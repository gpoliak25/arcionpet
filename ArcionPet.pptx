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5" y="1127714"/>
            <a:ext cx="10566357" cy="50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5" y="1935443"/>
            <a:ext cx="10566415" cy="41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5" y="1127714"/>
            <a:ext cx="10566357" cy="50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5" y="1935443"/>
            <a:ext cx="10566415" cy="41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20100000">
            <a:off x="7683391" y="2539890"/>
            <a:ext cx="698500" cy="9525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21120000">
            <a:off x="8572391" y="1714390"/>
            <a:ext cx="698500" cy="952500"/>
          </a:xfrm>
          <a:prstGeom prst="rect">
            <a:avLst/>
          </a:prstGeom>
        </p:spPr>
      </p:pic>
      <p:pic>
        <p:nvPicPr>
          <p:cNvPr id="4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480000">
            <a:off x="9651891" y="1714390"/>
            <a:ext cx="698500" cy="952500"/>
          </a:xfrm>
          <a:prstGeom prst="rect">
            <a:avLst/>
          </a:prstGeom>
        </p:spPr>
      </p:pic>
      <p:pic>
        <p:nvPicPr>
          <p:cNvPr id="5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 rot="1500000">
            <a:off x="10540891" y="2539890"/>
            <a:ext cx="698500" cy="952500"/>
          </a:xfrm>
          <a:prstGeom prst="rect">
            <a:avLst/>
          </a:prstGeom>
        </p:spPr>
      </p:pic>
      <p:pic>
        <p:nvPicPr>
          <p:cNvPr id="6" name="Image 4" descr="ellipse">    </p:cNvPr>
          <p:cNvPicPr>
            <a:picLocks noChangeAspect="1"/>
          </p:cNvPicPr>
          <p:nvPr/>
        </p:nvPicPr>
        <p:blipFill>
          <a:blip r:embed="rId5"/>
          <a:srcRect l="-1" r="-1" t="0" b="0"/>
          <a:stretch/>
        </p:blipFill>
        <p:spPr>
          <a:xfrm>
            <a:off x="8508928" y="3047927"/>
            <a:ext cx="1904927" cy="146042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2785" y="1991504"/>
            <a:ext cx="6540425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4F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 PRODUCTO</a:t>
            </a:r>
            <a:endParaRPr lang="en-US" sz="1400" dirty="0"/>
          </a:p>
        </p:txBody>
      </p:sp>
      <p:sp>
        <p:nvSpPr>
          <p:cNvPr id="8" name="Text 1"/>
          <p:cNvSpPr/>
          <p:nvPr>
            <p:ph type="title"/>
          </p:nvPr>
        </p:nvSpPr>
        <p:spPr>
          <a:xfrm>
            <a:off x="812785" y="2443501"/>
            <a:ext cx="6540425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0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</a:t>
            </a:r>
            <a:endParaRPr lang="en-US" sz="8000" dirty="0"/>
          </a:p>
        </p:txBody>
      </p:sp>
      <p:sp>
        <p:nvSpPr>
          <p:cNvPr id="9" name="Text 2"/>
          <p:cNvSpPr/>
          <p:nvPr/>
        </p:nvSpPr>
        <p:spPr>
          <a:xfrm>
            <a:off x="812785" y="3764213"/>
            <a:ext cx="6540425" cy="39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 IA para la nueva Veterinaria</a:t>
            </a:r>
            <a:endParaRPr lang="en-US" sz="2400" dirty="0"/>
          </a:p>
        </p:txBody>
      </p:sp>
      <p:sp>
        <p:nvSpPr>
          <p:cNvPr id="10" name="Text 3"/>
          <p:cNvSpPr/>
          <p:nvPr/>
        </p:nvSpPr>
        <p:spPr>
          <a:xfrm>
            <a:off x="812785" y="4333067"/>
            <a:ext cx="6540425" cy="558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integral de gestión, diagnóstico por imágenes y asistente inteligente para clínicas veterinarias.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DESAFÍO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3"/>
            <a:ext cx="11379215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veterinaria trabaja con información dispersa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89388"/>
            <a:ext cx="3380317" cy="2090473"/>
          </a:xfrm>
          <a:prstGeom prst="roundRect">
            <a:avLst>
              <a:gd name="adj" fmla="val 5923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pic>
        <p:nvPicPr>
          <p:cNvPr id="5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416" y="2244843"/>
            <a:ext cx="355571" cy="3555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416" y="2701985"/>
            <a:ext cx="295548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dispersa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1416" y="3077840"/>
            <a:ext cx="2955489" cy="771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Agenda, historias clínicas, estudios y stock viven en herramientas separadas.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769" y="1989388"/>
            <a:ext cx="3380391" cy="2090473"/>
          </a:xfrm>
          <a:prstGeom prst="roundRect">
            <a:avLst>
              <a:gd name="adj" fmla="val 5923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pic>
        <p:nvPicPr>
          <p:cNvPr id="9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224" y="2244843"/>
            <a:ext cx="355571" cy="3555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224" y="2701985"/>
            <a:ext cx="295556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lentas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61224" y="3077840"/>
            <a:ext cx="2955564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Interpretar imágenes y estudios consume tiempo clínico valioso.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651" y="1989388"/>
            <a:ext cx="3380317" cy="2090473"/>
          </a:xfrm>
          <a:prstGeom prst="roundRect">
            <a:avLst>
              <a:gd name="adj" fmla="val 5923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pic>
        <p:nvPicPr>
          <p:cNvPr id="13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106" y="2244843"/>
            <a:ext cx="355571" cy="35557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106" y="2701985"/>
            <a:ext cx="295548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parcial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51106" y="3077840"/>
            <a:ext cx="2955489" cy="771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un insumo o un hemocomponente de punta a punta es difícil.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785" y="6238215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693343" y="6238215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79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1823862"/>
            <a:ext cx="1088334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F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2326644"/>
            <a:ext cx="10883348" cy="1589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plataforma para toda la veterinaria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785" y="4145139"/>
            <a:ext cx="8502576" cy="711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E3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Administración, imágenes, diagnóstico, asistente inteligente y hemocomponentes, conectados sobre los mismos datos.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85" y="6238215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93343" y="6238215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6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inicio pensado para el día a día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5485" y="1884569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230" y="1909925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Prioridades del día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3230" y="2222280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para firmar e interconsultas activas, a la vista.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485" y="2923133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3230" y="2948488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hoy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230" y="3260844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 del día y pedidos que llegan desde el portal.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5485" y="3961696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3230" y="3987051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 recientes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230" y="4299407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resultado de cada estudio, con su clasificación.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2498" y="1884569"/>
            <a:ext cx="7086571" cy="3543286"/>
          </a:xfrm>
          <a:prstGeom prst="roundRect">
            <a:avLst>
              <a:gd name="adj" fmla="val 2867"/>
            </a:avLst>
          </a:prstGeom>
          <a:solidFill>
            <a:srgbClr val="FDFCF8"/>
          </a:solidFill>
          <a:ln/>
        </p:spPr>
      </p:sp>
      <p:pic>
        <p:nvPicPr>
          <p:cNvPr id="14" name="Image 0" descr="Pantalla de inicio de ArcionPet con indicadores, agenda, informes para firmar y estudios reci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8686" y="1890919"/>
            <a:ext cx="6574194" cy="353058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95673" y="1887744"/>
            <a:ext cx="7080221" cy="3536936"/>
          </a:xfrm>
          <a:prstGeom prst="roundRect">
            <a:avLst>
              <a:gd name="adj" fmla="val 2783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785" y="6238216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3343" y="6238216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sistema, cuatro áreas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887745"/>
            <a:ext cx="2482865" cy="1973762"/>
          </a:xfrm>
          <a:prstGeom prst="roundRect">
            <a:avLst>
              <a:gd name="adj" fmla="val 6274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060" y="2117843"/>
            <a:ext cx="208334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342" y="2493699"/>
            <a:ext cx="197844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</a:t>
            </a:r>
            <a:endParaRPr lang="en-US" sz="1400" dirty="0"/>
          </a:p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8316" y="1887745"/>
            <a:ext cx="2482939" cy="1973762"/>
          </a:xfrm>
          <a:prstGeom prst="roundRect">
            <a:avLst>
              <a:gd name="adj" fmla="val 6274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8416" y="2117843"/>
            <a:ext cx="2083422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35698" y="2493699"/>
            <a:ext cx="197852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</a:t>
            </a:r>
            <a:endParaRPr lang="en-US" sz="1400" dirty="0"/>
          </a:p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400" dirty="0"/>
          </a:p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</a:t>
            </a:r>
            <a:endParaRPr lang="en-US" sz="1400" dirty="0"/>
          </a:p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Derivaciones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0746" y="1887745"/>
            <a:ext cx="2482865" cy="1973762"/>
          </a:xfrm>
          <a:prstGeom prst="roundRect">
            <a:avLst>
              <a:gd name="adj" fmla="val 6274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0846" y="2117843"/>
            <a:ext cx="208334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EISPLUS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128" y="2493699"/>
            <a:ext cx="197844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Interconsultas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93103" y="1887745"/>
            <a:ext cx="2482865" cy="1973762"/>
          </a:xfrm>
          <a:prstGeom prst="roundRect">
            <a:avLst>
              <a:gd name="adj" fmla="val 6274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23202" y="2117843"/>
            <a:ext cx="208334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20484" y="2493699"/>
            <a:ext cx="1978444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calidad</a:t>
            </a:r>
            <a:endParaRPr lang="en-US" sz="1400" dirty="0"/>
          </a:p>
          <a:p>
            <a:pPr algn="l" marL="156718" indent="-1567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785" y="4118608"/>
            <a:ext cx="10566357" cy="604426"/>
          </a:xfrm>
          <a:prstGeom prst="roundRect">
            <a:avLst>
              <a:gd name="adj" fmla="val 16809"/>
            </a:avLst>
          </a:prstGeom>
          <a:solidFill>
            <a:srgbClr val="17796F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Además: consolidado de hemocomponentes y ARCION Pet, el asistente aplicado a la veterinaria.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85" y="6238215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93343" y="6238215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4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y turnos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5" y="1884567"/>
            <a:ext cx="5181571" cy="2666927"/>
          </a:xfrm>
          <a:prstGeom prst="roundRect">
            <a:avLst>
              <a:gd name="adj" fmla="val 3810"/>
            </a:avLst>
          </a:prstGeom>
          <a:solidFill>
            <a:srgbClr val="FDFCF8"/>
          </a:solidFill>
          <a:ln/>
        </p:spPr>
      </p:sp>
      <p:pic>
        <p:nvPicPr>
          <p:cNvPr id="5" name="Image 0" descr="Listado de pacientes con especie, raza, edad y tu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35" y="1915549"/>
            <a:ext cx="5168871" cy="2604963"/>
          </a:xfrm>
          <a:custGeom>
            <a:avLst/>
            <a:gdLst/>
            <a:ahLst/>
            <a:cxnLst/>
            <a:rect l="l" t="t" r="r" b="b"/>
            <a:pathLst>
              <a:path w="5168871" h="2604963">
                <a:moveTo>
                  <a:pt x="0" y="70618"/>
                </a:moveTo>
                <a:arcTo wR="95250" hR="95250" stAng="10800000" swAng="2871040"/>
                <a:lnTo>
                  <a:pt x="5137540" y="0"/>
                </a:lnTo>
                <a:arcTo wR="95250" hR="95250" stAng="18728959" swAng="2871040"/>
                <a:lnTo>
                  <a:pt x="5168871" y="2534345"/>
                </a:lnTo>
                <a:arcTo wR="95250" hR="95250" stAng="0" swAng="2871040"/>
                <a:lnTo>
                  <a:pt x="31331" y="2604963"/>
                </a:lnTo>
                <a:arcTo wR="95250" hR="95250" stAng="7928959" swAng="2871040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5960" y="1887742"/>
            <a:ext cx="5175221" cy="2660577"/>
          </a:xfrm>
          <a:prstGeom prst="roundRect">
            <a:avLst>
              <a:gd name="adj" fmla="val 3699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785" y="4653065"/>
            <a:ext cx="533701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2785" y="5028921"/>
            <a:ext cx="5337018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Mascotas de la clínica y de la red EISPLUS, con búsqueda por mascota, raza, tutor o documento.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7498" y="1884567"/>
            <a:ext cx="5181571" cy="2666927"/>
          </a:xfrm>
          <a:prstGeom prst="roundRect">
            <a:avLst>
              <a:gd name="adj" fmla="val 3810"/>
            </a:avLst>
          </a:prstGeom>
          <a:solidFill>
            <a:srgbClr val="FDFCF8"/>
          </a:solidFill>
          <a:ln/>
        </p:spPr>
      </p:sp>
      <p:pic>
        <p:nvPicPr>
          <p:cNvPr id="10" name="Image 1" descr="Agenda de turnos con turnos pasados sin cerr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48" y="1971002"/>
            <a:ext cx="5168871" cy="2494057"/>
          </a:xfrm>
          <a:custGeom>
            <a:avLst/>
            <a:gdLst/>
            <a:ahLst/>
            <a:cxnLst/>
            <a:rect l="l" t="t" r="r" b="b"/>
            <a:pathLst>
              <a:path w="5168871" h="2494057">
                <a:moveTo>
                  <a:pt x="0" y="15165"/>
                </a:moveTo>
                <a:arcTo wR="95250" hR="95250" stAng="10800000" swAng="549665"/>
                <a:lnTo>
                  <a:pt x="5167656" y="0"/>
                </a:lnTo>
                <a:arcTo wR="95250" hR="95250" stAng="21050335" swAng="549665"/>
                <a:lnTo>
                  <a:pt x="5168871" y="2478892"/>
                </a:lnTo>
                <a:arcTo wR="95250" hR="95250" stAng="0" swAng="549665"/>
                <a:lnTo>
                  <a:pt x="1215" y="2494057"/>
                </a:lnTo>
                <a:arcTo wR="95250" hR="95250" stAng="10250335" swAng="549665"/>
                <a:close/>
              </a:path>
            </a:pathLst>
          </a:custGeom>
        </p:spPr>
      </p:pic>
      <p:sp>
        <p:nvSpPr>
          <p:cNvPr id="11" name="Shape 7"/>
          <p:cNvSpPr/>
          <p:nvPr/>
        </p:nvSpPr>
        <p:spPr>
          <a:xfrm>
            <a:off x="6200673" y="1887742"/>
            <a:ext cx="5175221" cy="2660577"/>
          </a:xfrm>
          <a:prstGeom prst="roundRect">
            <a:avLst>
              <a:gd name="adj" fmla="val 3699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97498" y="4653065"/>
            <a:ext cx="533709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197498" y="5028921"/>
            <a:ext cx="5337094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clínica y pedidos del Portal Cliente, con cierre de los turnos pasados.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12785" y="6238215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693343" y="6238215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 clasificados con 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5485" y="1884570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230" y="1909927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resultados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3230" y="2222280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Normal, Incierto o Patológico para cada estudio.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485" y="2923133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3230" y="2948490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230" y="3260846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resultado muestra su porcentaje de confianza.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5485" y="3961696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3230" y="3987053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Tórax y extremidades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230" y="4299409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especie, el motivo de consulta y la fecha.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2498" y="1884570"/>
            <a:ext cx="7086571" cy="3543286"/>
          </a:xfrm>
          <a:prstGeom prst="roundRect">
            <a:avLst>
              <a:gd name="adj" fmla="val 2867"/>
            </a:avLst>
          </a:prstGeom>
          <a:solidFill>
            <a:srgbClr val="FDFCF8"/>
          </a:solidFill>
          <a:ln/>
        </p:spPr>
      </p:sp>
      <p:pic>
        <p:nvPicPr>
          <p:cNvPr id="14" name="Image 0" descr="Listado de estudios con resultado Normal, Incierto o Patológico y porcentaje de confianza">    </p:cNvPr>
          <p:cNvPicPr>
            <a:picLocks noChangeAspect="1"/>
          </p:cNvPicPr>
          <p:nvPr/>
        </p:nvPicPr>
        <p:blipFill>
          <a:blip r:embed="rId1"/>
          <a:srcRect l="0" r="0" t="-226" b="-226"/>
          <a:stretch/>
        </p:blipFill>
        <p:spPr>
          <a:xfrm>
            <a:off x="4298848" y="1890920"/>
            <a:ext cx="7073871" cy="3530586"/>
          </a:xfrm>
          <a:prstGeom prst="roundRect">
            <a:avLst>
              <a:gd name="adj" fmla="val 2698"/>
            </a:avLst>
          </a:prstGeom>
        </p:spPr>
      </p:pic>
      <p:sp>
        <p:nvSpPr>
          <p:cNvPr id="15" name="Shape 12"/>
          <p:cNvSpPr/>
          <p:nvPr/>
        </p:nvSpPr>
        <p:spPr>
          <a:xfrm>
            <a:off x="4295673" y="1887745"/>
            <a:ext cx="7080221" cy="3536936"/>
          </a:xfrm>
          <a:prstGeom prst="roundRect">
            <a:avLst>
              <a:gd name="adj" fmla="val 2783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785" y="6238215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3343" y="6238215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4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Triage: qué atender primero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5485" y="1884570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230" y="1909924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3230" y="2222280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 o A revisar, según el resultado de la 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485" y="2923133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3230" y="2948487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 informe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230" y="3260843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 si el estudio tiene borrador o sigue sin informe.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5485" y="3961696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3230" y="3987050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espera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230" y="4299409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días de espera ayudan a ordenar qué atender primero.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2498" y="1884570"/>
            <a:ext cx="7086571" cy="3543286"/>
          </a:xfrm>
          <a:prstGeom prst="roundRect">
            <a:avLst>
              <a:gd name="adj" fmla="val 2867"/>
            </a:avLst>
          </a:prstGeom>
          <a:solidFill>
            <a:srgbClr val="FDFCF8"/>
          </a:solidFill>
          <a:ln/>
        </p:spPr>
      </p:sp>
      <p:pic>
        <p:nvPicPr>
          <p:cNvPr id="14" name="Image 0" descr="Triage de estudios priorizados como Urgente o A revisar, con resultado de IA, estado del informe y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848" y="1993419"/>
            <a:ext cx="7073871" cy="3325587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95673" y="1887745"/>
            <a:ext cx="7080221" cy="3536936"/>
          </a:xfrm>
          <a:prstGeom prst="roundRect">
            <a:avLst>
              <a:gd name="adj" fmla="val 2783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785" y="6238211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3343" y="6238211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con firma del veterinario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5485" y="1884573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230" y="1909924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con 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3230" y="2222283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un borrador a partir del estudio analizado.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485" y="2923133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3230" y="2948490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confianza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230" y="3260843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Baja, media o alta, visible en el listado.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5485" y="3961699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3230" y="3987056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del veterinario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230" y="4299409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en borrador hasta que el profesional lo revisa y lo firma.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2498" y="1884573"/>
            <a:ext cx="7086571" cy="3543286"/>
          </a:xfrm>
          <a:prstGeom prst="roundRect">
            <a:avLst>
              <a:gd name="adj" fmla="val 2867"/>
            </a:avLst>
          </a:prstGeom>
          <a:solidFill>
            <a:srgbClr val="FDFCF8"/>
          </a:solidFill>
          <a:ln/>
        </p:spPr>
      </p:sp>
      <p:pic>
        <p:nvPicPr>
          <p:cNvPr id="14" name="Image 0" descr="Listado de informes en estado borrador, con nivel de confianza y campo de firm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848" y="2335059"/>
            <a:ext cx="7073871" cy="264231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95673" y="1887748"/>
            <a:ext cx="7080221" cy="3536936"/>
          </a:xfrm>
          <a:prstGeom prst="roundRect">
            <a:avLst>
              <a:gd name="adj" fmla="val 2783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785" y="6238218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3343" y="6238218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EISPLUS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08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opinión y soporte de la 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5" y="1884567"/>
            <a:ext cx="5181571" cy="2666927"/>
          </a:xfrm>
          <a:prstGeom prst="roundRect">
            <a:avLst>
              <a:gd name="adj" fmla="val 3810"/>
            </a:avLst>
          </a:prstGeom>
          <a:solidFill>
            <a:srgbClr val="FDFCF8"/>
          </a:solidFill>
          <a:ln/>
        </p:spPr>
      </p:sp>
      <p:pic>
        <p:nvPicPr>
          <p:cNvPr id="5" name="Image 0" descr="Derivaciones de estudios a un especialista para segunda opin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35" y="2016814"/>
            <a:ext cx="5168871" cy="24024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60" y="1887742"/>
            <a:ext cx="5175221" cy="2660577"/>
          </a:xfrm>
          <a:prstGeom prst="roundRect">
            <a:avLst>
              <a:gd name="adj" fmla="val 3699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785" y="4653062"/>
            <a:ext cx="533701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Derivaciones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2785" y="5028921"/>
            <a:ext cx="5337018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estudios inciertos se escalan a un especialista para una segunda lectura.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7498" y="1884567"/>
            <a:ext cx="5181571" cy="2666927"/>
          </a:xfrm>
          <a:prstGeom prst="roundRect">
            <a:avLst>
              <a:gd name="adj" fmla="val 3810"/>
            </a:avLst>
          </a:prstGeom>
          <a:solidFill>
            <a:srgbClr val="FDFCF8"/>
          </a:solidFill>
          <a:ln/>
        </p:spPr>
      </p:sp>
      <p:pic>
        <p:nvPicPr>
          <p:cNvPr id="10" name="Image 1" descr="Interconsultas con el equipo de soporte de la red EISPLUS y cupo mensu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48" y="2172687"/>
            <a:ext cx="5168871" cy="209068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00673" y="1887742"/>
            <a:ext cx="5175221" cy="2660577"/>
          </a:xfrm>
          <a:prstGeom prst="roundRect">
            <a:avLst>
              <a:gd name="adj" fmla="val 3699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97498" y="4653062"/>
            <a:ext cx="533709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Interconsultas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197498" y="5028921"/>
            <a:ext cx="5337094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de casos con el equipo central de veterinarios de la red, con cupo mensual.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12785" y="6238211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693343" y="6238211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calidad de la 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5485" y="1884567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230" y="1909924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Concordancia IA–vet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3230" y="2222277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el resultado de la IA con el veredicto del profesional.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485" y="2923133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3230" y="2948490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Correcciones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230" y="3260843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cuándo el veterinario corrige o descarta.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5485" y="3961693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3230" y="3987050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exportable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230" y="4299403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etiquetado en CSV y JSON para reentrenar.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2498" y="1884567"/>
            <a:ext cx="7086571" cy="3543286"/>
          </a:xfrm>
          <a:prstGeom prst="roundRect">
            <a:avLst>
              <a:gd name="adj" fmla="val 2867"/>
            </a:avLst>
          </a:prstGeom>
          <a:solidFill>
            <a:srgbClr val="FDFCF8"/>
          </a:solidFill>
          <a:ln/>
        </p:spPr>
      </p:sp>
      <p:pic>
        <p:nvPicPr>
          <p:cNvPr id="14" name="Image 0" descr="Control de calidad con concordancia IA-veterinario, evaluados, discrepancias y veredicto por est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848" y="2185545"/>
            <a:ext cx="7073871" cy="294133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95673" y="1887742"/>
            <a:ext cx="7080221" cy="3536936"/>
          </a:xfrm>
          <a:prstGeom prst="roundRect">
            <a:avLst>
              <a:gd name="adj" fmla="val 2783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785" y="6238211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3343" y="6238211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de la clínica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5485" y="1884567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230" y="1909924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3230" y="2222283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 totales y por mes, y derivaciones pendientes.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485" y="2923133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3230" y="2948490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la 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230" y="3260843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entre patológico, incierto y normal.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5485" y="3961693"/>
            <a:ext cx="0" cy="860778"/>
          </a:xfrm>
          <a:prstGeom prst="line">
            <a:avLst/>
          </a:prstGeom>
          <a:noFill/>
          <a:ln w="25400">
            <a:solidFill>
              <a:srgbClr val="177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3230" y="3987050"/>
            <a:ext cx="311521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frecuentes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230" y="4299409"/>
            <a:ext cx="3115216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diagnósticos que más se repiten en la clínica.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2498" y="1884567"/>
            <a:ext cx="7086571" cy="3543286"/>
          </a:xfrm>
          <a:prstGeom prst="roundRect">
            <a:avLst>
              <a:gd name="adj" fmla="val 2867"/>
            </a:avLst>
          </a:prstGeom>
          <a:solidFill>
            <a:srgbClr val="FDFCF8"/>
          </a:solidFill>
          <a:ln/>
        </p:spPr>
      </p:sp>
      <p:pic>
        <p:nvPicPr>
          <p:cNvPr id="14" name="Image 0" descr="Analítica con estudios totales, resultados de la IA, estado de informes, estudios por mes y hallazgos frecu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4577" y="1890917"/>
            <a:ext cx="6962414" cy="3530586"/>
          </a:xfrm>
          <a:custGeom>
            <a:avLst/>
            <a:gdLst/>
            <a:ahLst/>
            <a:cxnLst/>
            <a:rect l="l" t="t" r="r" b="b"/>
            <a:pathLst>
              <a:path w="6962414" h="3530586">
                <a:moveTo>
                  <a:pt x="0" y="8586"/>
                </a:moveTo>
                <a:arcTo wR="95250" hR="95250" stAng="14729141" swAng="1470859"/>
                <a:lnTo>
                  <a:pt x="6922892" y="0"/>
                </a:lnTo>
                <a:arcTo wR="95250" hR="95250" stAng="16200000" swAng="1470859"/>
                <a:lnTo>
                  <a:pt x="6962414" y="3522000"/>
                </a:lnTo>
                <a:arcTo wR="95250" hR="95250" stAng="3929141" swAng="1470859"/>
                <a:lnTo>
                  <a:pt x="39521" y="3530586"/>
                </a:lnTo>
                <a:arcTo wR="95250" hR="95250" stAng="5400000" swAng="1470859"/>
                <a:close/>
              </a:path>
            </a:pathLst>
          </a:custGeom>
        </p:spPr>
      </p:pic>
      <p:sp>
        <p:nvSpPr>
          <p:cNvPr id="15" name="Shape 12"/>
          <p:cNvSpPr/>
          <p:nvPr/>
        </p:nvSpPr>
        <p:spPr>
          <a:xfrm>
            <a:off x="4295673" y="1887742"/>
            <a:ext cx="7080221" cy="3536936"/>
          </a:xfrm>
          <a:prstGeom prst="roundRect">
            <a:avLst>
              <a:gd name="adj" fmla="val 2783"/>
            </a:avLst>
          </a:prstGeom>
          <a:noFill/>
          <a:ln w="6350">
            <a:solidFill>
              <a:srgbClr val="DAD9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785" y="6238218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3343" y="6238218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466154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4F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4661545" cy="1031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ARCION, aplicado a la veterinaria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5" y="2336713"/>
            <a:ext cx="4661545" cy="59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experiencia del asistente inteligente de EISPLUS, ahora al servicio de la clínica.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51303" y="815963"/>
            <a:ext cx="5424665" cy="1282979"/>
          </a:xfrm>
          <a:prstGeom prst="roundRect">
            <a:avLst>
              <a:gd name="adj" fmla="val 9651"/>
            </a:avLst>
          </a:prstGeom>
          <a:solidFill>
            <a:srgbClr val="153A44"/>
          </a:solidFill>
          <a:ln w="6350">
            <a:solidFill>
              <a:srgbClr val="245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81403" y="1046063"/>
            <a:ext cx="511340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del día a día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81403" y="1371135"/>
            <a:ext cx="5113400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dudas de uso del sistema a recepción y veterinarios.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51303" y="2257648"/>
            <a:ext cx="5424665" cy="1282979"/>
          </a:xfrm>
          <a:prstGeom prst="roundRect">
            <a:avLst>
              <a:gd name="adj" fmla="val 9651"/>
            </a:avLst>
          </a:prstGeom>
          <a:solidFill>
            <a:srgbClr val="153A44"/>
          </a:solidFill>
          <a:ln w="6350">
            <a:solidFill>
              <a:srgbClr val="245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1403" y="2487749"/>
            <a:ext cx="511340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rápido a la información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81403" y="2812821"/>
            <a:ext cx="5113400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Encuentra datos de pacientes, turnos y stock con una pregunta.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51303" y="3699334"/>
            <a:ext cx="5424665" cy="1282979"/>
          </a:xfrm>
          <a:prstGeom prst="roundRect">
            <a:avLst>
              <a:gd name="adj" fmla="val 9651"/>
            </a:avLst>
          </a:prstGeom>
          <a:solidFill>
            <a:srgbClr val="153A44"/>
          </a:solidFill>
          <a:ln w="6350">
            <a:solidFill>
              <a:srgbClr val="245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403" y="3929435"/>
            <a:ext cx="511340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disponible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81403" y="4254506"/>
            <a:ext cx="5113400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Atiende consultas en cualquier momento, sin esperar al soporte.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785" y="6238218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3343" y="6238218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Consolidado de hemocomponentes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5" y="1782998"/>
            <a:ext cx="9905913" cy="30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visión única del stock de hemocomponentes y de cada unidad, de su origen a su uso.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60" y="2426246"/>
            <a:ext cx="3380317" cy="2090473"/>
          </a:xfrm>
          <a:prstGeom prst="roundRect">
            <a:avLst>
              <a:gd name="adj" fmla="val 5923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pic>
        <p:nvPicPr>
          <p:cNvPr id="6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416" y="2681697"/>
            <a:ext cx="355571" cy="3555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416" y="3138841"/>
            <a:ext cx="295548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unificada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71416" y="3514694"/>
            <a:ext cx="2955489" cy="771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unidades de hemocomponentes en una sola pantalla.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5769" y="2426246"/>
            <a:ext cx="3380391" cy="2090473"/>
          </a:xfrm>
          <a:prstGeom prst="roundRect">
            <a:avLst>
              <a:gd name="adj" fmla="val 5923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pic>
        <p:nvPicPr>
          <p:cNvPr id="10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224" y="2681697"/>
            <a:ext cx="355571" cy="3555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1224" y="3138841"/>
            <a:ext cx="295556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y vencimientos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61224" y="3514694"/>
            <a:ext cx="2955564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por tipo y alertas de vencimiento.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95651" y="2426246"/>
            <a:ext cx="3380317" cy="2090473"/>
          </a:xfrm>
          <a:prstGeom prst="roundRect">
            <a:avLst>
              <a:gd name="adj" fmla="val 5923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pic>
        <p:nvPicPr>
          <p:cNvPr id="14" name="Image 2" descr="Lin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106" y="2681697"/>
            <a:ext cx="355571" cy="35557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1106" y="3138841"/>
            <a:ext cx="295548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51106" y="3514694"/>
            <a:ext cx="2955489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de cada unidad, del origen al paciente.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2785" y="6238211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693343" y="6238211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gana la veterinaria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89386"/>
            <a:ext cx="3380317" cy="2115903"/>
          </a:xfrm>
          <a:prstGeom prst="roundRect">
            <a:avLst>
              <a:gd name="adj" fmla="val 5852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pic>
        <p:nvPicPr>
          <p:cNvPr id="5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416" y="2244843"/>
            <a:ext cx="355571" cy="3555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416" y="2701987"/>
            <a:ext cx="295548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herramientas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1416" y="3077840"/>
            <a:ext cx="2955489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 sistemas separados por una sola plataforma.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769" y="1989386"/>
            <a:ext cx="3380391" cy="2115903"/>
          </a:xfrm>
          <a:prstGeom prst="roundRect">
            <a:avLst>
              <a:gd name="adj" fmla="val 5852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pic>
        <p:nvPicPr>
          <p:cNvPr id="9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224" y="2244843"/>
            <a:ext cx="355571" cy="3555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224" y="2701987"/>
            <a:ext cx="295556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con datos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61224" y="3077840"/>
            <a:ext cx="2955564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 información clínica al alcance de todo el equipo.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651" y="1989386"/>
            <a:ext cx="3380317" cy="2115903"/>
          </a:xfrm>
          <a:prstGeom prst="roundRect">
            <a:avLst>
              <a:gd name="adj" fmla="val 5852"/>
            </a:avLst>
          </a:prstGeom>
          <a:solidFill>
            <a:srgbClr val="FDFCF8"/>
          </a:solidFill>
          <a:ln w="6350">
            <a:solidFill>
              <a:srgbClr val="DAD9CF"/>
            </a:solidFill>
            <a:prstDash val="solid"/>
          </a:ln>
        </p:spPr>
      </p:sp>
      <p:pic>
        <p:nvPicPr>
          <p:cNvPr id="13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106" y="2244843"/>
            <a:ext cx="355571" cy="35557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106" y="2701987"/>
            <a:ext cx="2955489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tiempo para el paciente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51106" y="3352124"/>
            <a:ext cx="2955489" cy="5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carga administrativa y más atención clínica.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785" y="6238218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693343" y="6238218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1819163"/>
            <a:ext cx="1088334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4F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2220367"/>
            <a:ext cx="10883348" cy="807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Hablemos de ArcionPet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785" y="3155007"/>
            <a:ext cx="10883348" cy="360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4F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 IA para la nueva Veterinaria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5960" y="3798255"/>
            <a:ext cx="5175221" cy="1034124"/>
          </a:xfrm>
          <a:prstGeom prst="roundRect">
            <a:avLst>
              <a:gd name="adj" fmla="val 11974"/>
            </a:avLst>
          </a:prstGeom>
          <a:solidFill>
            <a:srgbClr val="153A44"/>
          </a:solidFill>
          <a:ln w="6350">
            <a:solidFill>
              <a:srgbClr val="245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6060" y="4028356"/>
            <a:ext cx="485647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 piloto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6060" y="4353433"/>
            <a:ext cx="4856473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[Propuesta de demo o piloto con una clínica veterinaria]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673" y="3798255"/>
            <a:ext cx="5175295" cy="1034124"/>
          </a:xfrm>
          <a:prstGeom prst="roundRect">
            <a:avLst>
              <a:gd name="adj" fmla="val 11974"/>
            </a:avLst>
          </a:prstGeom>
          <a:solidFill>
            <a:srgbClr val="153A44"/>
          </a:solidFill>
          <a:ln w="6350">
            <a:solidFill>
              <a:srgbClr val="245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0772" y="4028356"/>
            <a:ext cx="485654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0772" y="4353433"/>
            <a:ext cx="4856549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 · email · teléfono]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785" y="6238218"/>
            <a:ext cx="58863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ArcionPet · Datos e IA para la nueva Veterinaria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3343" y="6238218"/>
            <a:ext cx="68572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ionPet">
  <a:themeElements>
    <a:clrScheme name="ArcionPet">
      <a:dk1>
        <a:srgbClr val="0E2A33"/>
      </a:dk1>
      <a:lt1>
        <a:srgbClr val="F6F5F0"/>
      </a:lt1>
      <a:dk2>
        <a:srgbClr val="485D62"/>
      </a:dk2>
      <a:lt2>
        <a:srgbClr val="DFE1DD"/>
      </a:lt2>
      <a:accent1>
        <a:srgbClr val="17796F"/>
      </a:accent1>
      <a:accent2>
        <a:srgbClr val="4FC3B6"/>
      </a:accent2>
      <a:accent3>
        <a:srgbClr val="BFE9E3"/>
      </a:accent3>
      <a:accent4>
        <a:srgbClr val="3E5158"/>
      </a:accent4>
      <a:accent5>
        <a:srgbClr val="5A6B6F"/>
      </a:accent5>
      <a:accent6>
        <a:srgbClr val="B9D3D1"/>
      </a:accent6>
      <a:hlink>
        <a:srgbClr val="0563C1"/>
      </a:hlink>
      <a:folHlink>
        <a:srgbClr val="954F72"/>
      </a:folHlink>
    </a:clrScheme>
    <a:fontScheme name="ArcionP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ArcionPet</dc:title>
  <dc:subject/>
  <dc:creator/>
  <cp:lastModifiedBy/>
  <cp:revision>1</cp:revision>
  <dcterms:created xsi:type="dcterms:W3CDTF">2026-10-14T20:47:58Z</dcterms:created>
  <dcterms:modified xsi:type="dcterms:W3CDTF">2026-10-14T20:47:58Z</dcterms:modified>
</cp:coreProperties>
</file>